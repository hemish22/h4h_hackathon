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>
        <p:scale>
          <a:sx n="100" d="100"/>
          <a:sy n="100" d="100"/>
        </p:scale>
        <p:origin x="1544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h4hhackathon-kpyns25nu2fg7i2xc3ernc.streamlit.app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0" y="976823"/>
            <a:ext cx="1554480" cy="109728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58661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D369"/>
                </a:solidFill>
                <a:latin typeface="Calibri"/>
              </a:rPr>
              <a:t>HACK4HACKATHON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34023"/>
            <a:ext cx="10607040" cy="14978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 dirty="0">
                <a:solidFill>
                  <a:srgbClr val="FFFFFF"/>
                </a:solidFill>
                <a:latin typeface="Calibri"/>
              </a:rPr>
              <a:t>Explainable Multimodal</a:t>
            </a:r>
          </a:p>
          <a:p>
            <a:pPr algn="l">
              <a:spcAft>
                <a:spcPts val="400"/>
              </a:spcAft>
            </a:pPr>
            <a:r>
              <a:rPr sz="4400" b="1" i="0" dirty="0">
                <a:solidFill>
                  <a:srgbClr val="FFFFFF"/>
                </a:solidFill>
                <a:latin typeface="Calibri"/>
              </a:rPr>
              <a:t>Mental-Health Screening</a:t>
            </a:r>
            <a:endParaRPr lang="en-US"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3761524"/>
            <a:ext cx="10515600" cy="15901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 dirty="0">
                <a:solidFill>
                  <a:srgbClr val="EEEEEE"/>
                </a:solidFill>
                <a:latin typeface="Calibri"/>
              </a:rPr>
              <a:t>Face + voice + 18 </a:t>
            </a:r>
            <a:r>
              <a:rPr sz="1700" b="0" i="0" dirty="0" err="1">
                <a:solidFill>
                  <a:srgbClr val="EEEEEE"/>
                </a:solidFill>
                <a:latin typeface="Calibri"/>
              </a:rPr>
              <a:t>behavioural</a:t>
            </a:r>
            <a:r>
              <a:rPr sz="1700" b="0" i="0" dirty="0">
                <a:solidFill>
                  <a:srgbClr val="EEEEEE"/>
                </a:solidFill>
                <a:latin typeface="Calibri"/>
              </a:rPr>
              <a:t>/physiological signals → 4-class stress triage + 3 severity scores, with per-modality confidence, disagreement detection, and a clinician-readable report card.</a:t>
            </a:r>
          </a:p>
          <a:p>
            <a:pPr algn="l">
              <a:spcAft>
                <a:spcPts val="400"/>
              </a:spcAft>
            </a:pPr>
            <a:r>
              <a:rPr sz="1500" b="0" i="1" dirty="0">
                <a:solidFill>
                  <a:srgbClr val="FFD369"/>
                </a:solidFill>
                <a:latin typeface="Calibri"/>
              </a:rPr>
              <a:t>A screening tool that flags people for professional assessment — not a diagnosis.</a:t>
            </a:r>
            <a:br>
              <a:rPr lang="en-US" sz="1500" b="0" i="1" dirty="0">
                <a:solidFill>
                  <a:srgbClr val="FFD369"/>
                </a:solidFill>
                <a:latin typeface="Calibri"/>
              </a:rPr>
            </a:br>
            <a:br>
              <a:rPr lang="en-US" sz="1500" b="0" i="1" dirty="0">
                <a:solidFill>
                  <a:srgbClr val="FFD369"/>
                </a:solidFill>
                <a:latin typeface="Calibri"/>
              </a:rPr>
            </a:br>
            <a:br>
              <a:rPr lang="en-US" sz="1500" b="0" i="1" dirty="0">
                <a:solidFill>
                  <a:srgbClr val="FFD369"/>
                </a:solidFill>
                <a:latin typeface="Calibri"/>
              </a:rPr>
            </a:br>
            <a:r>
              <a:rPr lang="en-US" sz="1500" b="0" i="1" dirty="0">
                <a:solidFill>
                  <a:srgbClr val="FFD369"/>
                </a:solidFill>
                <a:latin typeface="Calibri"/>
              </a:rPr>
              <a:t>Made by: Hemish Jain (RA2411003010147, </a:t>
            </a:r>
            <a:r>
              <a:rPr lang="en-US" sz="1500" b="0" i="1" dirty="0" err="1">
                <a:solidFill>
                  <a:srgbClr val="FFD369"/>
                </a:solidFill>
                <a:latin typeface="Calibri"/>
              </a:rPr>
              <a:t>Anukool</a:t>
            </a:r>
            <a:r>
              <a:rPr lang="en-US" sz="1500" b="0" i="1" dirty="0">
                <a:solidFill>
                  <a:srgbClr val="FFD369"/>
                </a:solidFill>
                <a:latin typeface="Calibri"/>
              </a:rPr>
              <a:t> Kashyap (RA2411003010166)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3BD6F-AEFF-839F-7885-FA6FBA2550C0}"/>
              </a:ext>
            </a:extLst>
          </p:cNvPr>
          <p:cNvSpPr txBox="1"/>
          <p:nvPr/>
        </p:nvSpPr>
        <p:spPr>
          <a:xfrm>
            <a:off x="731520" y="3017731"/>
            <a:ext cx="999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IN" sz="2800" b="1" dirty="0">
                <a:solidFill>
                  <a:schemeClr val="tx2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https://h4hhackathon-kpyns25nu2fg7i2xc3ernc.streamlit.app/</a:t>
            </a:r>
            <a:endParaRPr lang="en-IN" sz="2800" b="1" i="0" dirty="0">
              <a:solidFill>
                <a:schemeClr val="tx2">
                  <a:lumMod val="40000"/>
                  <a:lumOff val="6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Distress is measurable — but rarely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Today:  </a:t>
            </a:r>
            <a:r>
              <a:rPr sz="1800">
                <a:solidFill>
                  <a:srgbClr val="393E46"/>
                </a:solidFill>
                <a:latin typeface="Calibri"/>
              </a:rPr>
              <a:t>psychiatric assessment leans on infrequent, self-reported questionnaires and interviews.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But:  </a:t>
            </a:r>
            <a:r>
              <a:rPr sz="1800">
                <a:solidFill>
                  <a:srgbClr val="393E46"/>
                </a:solidFill>
                <a:latin typeface="Calibri"/>
              </a:rPr>
              <a:t>distress also shows in face, voice, sleep, social engagement, and physiology — continuously observable.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Our task (3 objectives):  </a:t>
            </a:r>
            <a:r>
              <a:rPr sz="1800">
                <a:solidFill>
                  <a:srgbClr val="393E46"/>
                </a:solidFill>
                <a:latin typeface="Calibri"/>
              </a:rPr>
              <a:t>(1) classify stress into 4 levels, (2) estimate Depression/Anxiety/Stress scores, (3) explain and quantify each modality's contribution.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Framing:  </a:t>
            </a:r>
            <a:r>
              <a:rPr sz="1800">
                <a:solidFill>
                  <a:srgbClr val="393E46"/>
                </a:solidFill>
                <a:latin typeface="Calibri"/>
              </a:rPr>
              <a:t>a screening / decision-support tool — flags people for a professional. Not a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WHY MULTIMODAL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Each channel alone is ambiguous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Flat voice  </a:t>
            </a:r>
            <a:r>
              <a:rPr sz="1800">
                <a:solidFill>
                  <a:srgbClr val="393E46"/>
                </a:solidFill>
                <a:latin typeface="Calibri"/>
              </a:rPr>
              <a:t>could be a cold — or blunted affect.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A frown  </a:t>
            </a:r>
            <a:r>
              <a:rPr sz="1800">
                <a:solidFill>
                  <a:srgbClr val="393E46"/>
                </a:solidFill>
                <a:latin typeface="Calibri"/>
              </a:rPr>
              <a:t>could be concentration — or distress.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The signal is agreement.  </a:t>
            </a:r>
            <a:r>
              <a:rPr sz="1800">
                <a:solidFill>
                  <a:srgbClr val="393E46"/>
                </a:solidFill>
                <a:latin typeface="Calibri"/>
              </a:rPr>
              <a:t>When face, voice and physiology point the same way, confidence is high; when they disagree, that itself is information.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So we fuse the three — and, uniquely, we measure when they contradict.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651760"/>
            <a:ext cx="1554480" cy="109728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D369"/>
                </a:solidFill>
                <a:latin typeface="Calibri"/>
              </a:rPr>
              <a:t>THE CORE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Three datasets. Zero shared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EEEEEE"/>
                </a:solidFill>
                <a:latin typeface="Calibri"/>
              </a:rPr>
              <a:t>Faces (FER2013), voices (RAVDESS) and the 18-feature CSV describe different people. Yet the model needs one person with all three. Something had to be constructed.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OUR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Feature-matched alignment — joining a photo, a voice and 18 numbers</a:t>
            </a:r>
          </a:p>
        </p:txBody>
      </p:sp>
      <p:pic>
        <p:nvPicPr>
          <p:cNvPr id="5" name="Picture 4" descr="align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600200"/>
            <a:ext cx="969264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393E46"/>
                </a:solidFill>
                <a:latin typeface="Calibri"/>
              </a:rPr>
              <a:t>We DON'T staple a random face+voice to a CSV row — we match on measured features within the stress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WHY IT'S PRINCIPLED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The CSV told us what each participant should look &amp; sound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The CSV already contains  </a:t>
            </a:r>
            <a:r>
              <a:rPr sz="1800">
                <a:solidFill>
                  <a:srgbClr val="393E46"/>
                </a:solidFill>
                <a:latin typeface="Calibri"/>
              </a:rPr>
              <a:t>audio-derived columns (MFCC_Mean, Pitch_Mean, Speech_Rate) and a face-derived one (Facial_Emotion_Variance).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So we compute the SAME quantities  </a:t>
            </a:r>
            <a:r>
              <a:rPr sz="1800">
                <a:solidFill>
                  <a:srgbClr val="393E46"/>
                </a:solidFill>
                <a:latin typeface="Calibri"/>
              </a:rPr>
              <a:t>from the raw wavs/images and match each CSV row to its nearest real voice &amp; face.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Speech_Rate = 6 / clip-duration — exactly.  </a:t>
            </a:r>
            <a:r>
              <a:rPr sz="1800">
                <a:solidFill>
                  <a:srgbClr val="393E46"/>
                </a:solidFill>
                <a:latin typeface="Calibri"/>
              </a:rPr>
              <a:t>Every RAVDESS sentence is 6 words (read off the spec, not guessed).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We built BOTH  </a:t>
            </a:r>
            <a:r>
              <a:rPr sz="1800">
                <a:solidFill>
                  <a:srgbClr val="393E46"/>
                </a:solidFill>
                <a:latin typeface="Calibri"/>
              </a:rPr>
              <a:t>a random-paired and a matched-paired dataset, and trained the identical model on each — to prove matching helps.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WHAT THE DATA TOLD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Three honest findings (we report them, not hide them)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Tabular is near-noise:  </a:t>
            </a:r>
            <a:r>
              <a:rPr sz="1800">
                <a:solidFill>
                  <a:srgbClr val="393E46"/>
                </a:solidFill>
                <a:latin typeface="Calibri"/>
              </a:rPr>
              <a:t>the 18 features barely correlate with the targets — LightGBM alone gets 37% (below guessing 'Healthy').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Severe is rare:  </a:t>
            </a:r>
            <a:r>
              <a:rPr sz="1800">
                <a:solidFill>
                  <a:srgbClr val="393E46"/>
                </a:solidFill>
                <a:latin typeface="Calibri"/>
              </a:rPr>
              <a:t>~3% of rows, only 19 in the test set → low Severe recall is a stated limitation, not a bug.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A contradiction in the committee's own labels:  </a:t>
            </a:r>
            <a:r>
              <a:rPr sz="1800">
                <a:solidFill>
                  <a:srgbClr val="393E46"/>
                </a:solidFill>
                <a:latin typeface="Calibri"/>
              </a:rPr>
              <a:t>'angry' &amp; 'disgust' map to OPPOSITE stress levels in the audio vs image tables — we flag every affected pair so it can't corrupt the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Three encoders → gated fusion → multi-task, uncertainty-aware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600200"/>
            <a:ext cx="9692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KEY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Small additions, large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Ordinal-aware loss:  </a:t>
            </a:r>
            <a:r>
              <a:rPr sz="1800">
                <a:solidFill>
                  <a:srgbClr val="393E46"/>
                </a:solidFill>
                <a:latin typeface="Calibri"/>
              </a:rPr>
              <a:t>predicting Healthy for a Severe case hurts more than predicting Moderate (the classes are an ordered scale).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Per-participant gated fusion:  </a:t>
            </a:r>
            <a:r>
              <a:rPr sz="1800">
                <a:solidFill>
                  <a:srgbClr val="393E46"/>
                </a:solidFill>
                <a:latin typeface="Calibri"/>
              </a:rPr>
              <a:t>'for this person the model leaned 41% on voice' — an explainability output, not just a mechanism.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Auxiliary heads:  </a:t>
            </a:r>
            <a:r>
              <a:rPr sz="1800">
                <a:solidFill>
                  <a:srgbClr val="393E46"/>
                </a:solidFill>
                <a:latin typeface="Calibri"/>
              </a:rPr>
              <a:t>free single-modality results + the ingredients for decision-level fusion and concordance.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Modality dropout:  </a:t>
            </a:r>
            <a:r>
              <a:rPr sz="1800">
                <a:solidFill>
                  <a:srgbClr val="393E46"/>
                </a:solidFill>
                <a:latin typeface="Calibri"/>
              </a:rPr>
              <a:t>the demo still works if a judge uploads only a photo.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MC-dropout:  </a:t>
            </a:r>
            <a:r>
              <a:rPr sz="1800">
                <a:solidFill>
                  <a:srgbClr val="393E46"/>
                </a:solidFill>
                <a:latin typeface="Calibri"/>
              </a:rPr>
              <a:t>'Depression 21 ± 4', not a fake-precise 21.3 — shows what the model doesn't know.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DID WE EVEN NEED THE PAIRING?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Decision-level fusion — an honest baseline with NO pairing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Decision-level (no pairing)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Joint gated fusion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4-class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✓  (acc 0.652)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✓  (acc 0.670)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Depression/Anxiety/Stress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✗  collapses to tabular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Per-participant modality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✗  global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Cross-modal representation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393E46"/>
                </a:solidFill>
                <a:latin typeface="Calibri"/>
              </a:rPr>
              <a:t>Tuned weights: face 0.45 / voice 0.50 / tab 0.05 — the near-zero tab weight confirms tabular is noise. Objectives 2 &amp; 3 REQUIRE the joint model → that's why the alignment engine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The headline: matched pairing beats random — same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Pairing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QWK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 MAE</a:t>
                      </a:r>
                    </a:p>
                  </a:txBody>
                  <a:tcPr>
                    <a:solidFill>
                      <a:srgbClr val="2228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Tabular only (LightGBM)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10.11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Gated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random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Gated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0.564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1"/>
                          </a:solidFill>
                        </a:rPr>
                        <a:t>9.06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831"/>
                          </a:solidFill>
                        </a:rPr>
                        <a:t>Final (+ordinal +mod-dropout)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831"/>
                          </a:solidFill>
                        </a:rPr>
                        <a:t>matched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831"/>
                          </a:solidFill>
                        </a:rPr>
                        <a:t>0.670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831"/>
                          </a:solidFill>
                        </a:rPr>
                        <a:t>0.575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831"/>
                          </a:solidFill>
                        </a:rPr>
                        <a:t>0.864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831"/>
                          </a:solidFill>
                        </a:rPr>
                        <a:t>0.562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831"/>
                          </a:solidFill>
                        </a:rPr>
                        <a:t>8.95</a:t>
                      </a:r>
                    </a:p>
                  </a:txBody>
                  <a:tcPr>
                    <a:solidFill>
                      <a:srgbClr val="FFD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393E46"/>
                </a:solidFill>
                <a:latin typeface="Calibri"/>
              </a:rPr>
              <a:t>Random → matched = +10 accuracy points / +0.13 QWK under an IDENTICAL model → isolates the alignment engine's contribution.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STANDOUT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Modality disagreement → route to a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We measure concordance:  </a:t>
            </a:r>
            <a:r>
              <a:rPr sz="1800">
                <a:solidFill>
                  <a:srgbClr val="393E46"/>
                </a:solidFill>
                <a:latin typeface="Calibri"/>
              </a:rPr>
              <a:t>do face, voice and tabular agree? (masked affect: people hide distress in the face more than the voice.)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It's a REAL reliability signal:  </a:t>
            </a:r>
            <a:r>
              <a:rPr sz="1800">
                <a:solidFill>
                  <a:srgbClr val="393E46"/>
                </a:solidFill>
                <a:latin typeface="Calibri"/>
              </a:rPr>
              <a:t>on the clean test subset, accuracy is 0.64 when modalities agree — but only 0.23 when they strongly disagree.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So we route:  </a:t>
            </a:r>
            <a:r>
              <a:rPr sz="1800">
                <a:solidFill>
                  <a:srgbClr val="393E46"/>
                </a:solidFill>
                <a:latin typeface="Calibri"/>
              </a:rPr>
              <a:t>high concordance → report; medium → caveat; low → FLAG FOR HUMAN REVIEW instead of a confident label.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Calibration:  </a:t>
            </a:r>
            <a:r>
              <a:rPr sz="1800">
                <a:solidFill>
                  <a:srgbClr val="393E46"/>
                </a:solidFill>
                <a:latin typeface="Calibri"/>
              </a:rPr>
              <a:t>reliability diagram + ECE = 0.198 reported — we show how trustworthy the confidences 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Where the model looked + what drives it</a:t>
            </a:r>
          </a:p>
        </p:txBody>
      </p:sp>
      <p:pic>
        <p:nvPicPr>
          <p:cNvPr id="5" name="Picture 4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17676"/>
            <a:ext cx="4908804" cy="4908804"/>
          </a:xfrm>
          <a:prstGeom prst="rect">
            <a:avLst/>
          </a:prstGeom>
        </p:spPr>
      </p:pic>
      <p:pic>
        <p:nvPicPr>
          <p:cNvPr id="6" name="Picture 5" descr="gradcam_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2331720"/>
            <a:ext cx="548640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393E46"/>
                </a:solidFill>
                <a:latin typeface="Calibri"/>
              </a:rPr>
              <a:t>SHAP: HRV is the top tabular driver (matches stress physiology).  Grad-CAM: the model attends to eyes / nose / mouth.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Not just a predictor — a 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2831"/>
                </a:solidFill>
                <a:latin typeface="Calibri"/>
              </a:rPr>
              <a:t>Shows the actual inputs it joined:  </a:t>
            </a:r>
            <a:r>
              <a:rPr sz="1700">
                <a:solidFill>
                  <a:srgbClr val="393E46"/>
                </a:solidFill>
                <a:latin typeface="Calibri"/>
              </a:rPr>
              <a:t>each one-click demo displays the real FACE image and a playable AUDIO clip that were paired — our alignment idea, made visible.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2831"/>
                </a:solidFill>
                <a:latin typeface="Calibri"/>
              </a:rPr>
              <a:t>Per-participant gate weights, MC-dropout uncertainty bands, live Grad-CAM on your own face &amp; voice.  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2831"/>
                </a:solidFill>
                <a:latin typeface="Calibri"/>
              </a:rPr>
              <a:t>Counterfactuals:  </a:t>
            </a:r>
            <a:r>
              <a:rPr sz="1700">
                <a:solidFill>
                  <a:srgbClr val="393E46"/>
                </a:solidFill>
                <a:latin typeface="Calibri"/>
              </a:rPr>
              <a:t>'what would change this' — the actionable movers.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2831"/>
                </a:solidFill>
                <a:latin typeface="Calibri"/>
              </a:rPr>
              <a:t>Graceful degradation + webcam/mic capture + conflict-aware honesty messaging.  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2831"/>
                </a:solidFill>
                <a:latin typeface="Calibri"/>
              </a:rPr>
              <a:t>'About the model' panel:  </a:t>
            </a:r>
            <a:r>
              <a:rPr sz="1700">
                <a:solidFill>
                  <a:srgbClr val="393E46"/>
                </a:solidFill>
                <a:latin typeface="Calibri"/>
              </a:rPr>
              <a:t>ablation table, calibration, concordance evidence — rigour on demand.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651760"/>
            <a:ext cx="1554480" cy="109728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D369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Let's screen four participants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EEEEEE"/>
                </a:solidFill>
                <a:latin typeface="Calibri"/>
              </a:rPr>
              <a:t>Clear Healthy · Severe · a deliberately low-concordance case (caught and routed to review) · a label-conflict case (honesty behaviour).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We name them before 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Synthetic pairing  </a:t>
            </a:r>
            <a:r>
              <a:rPr sz="1800">
                <a:solidFill>
                  <a:srgbClr val="393E46"/>
                </a:solidFill>
                <a:latin typeface="Calibri"/>
              </a:rPr>
              <a:t>— constructed participants, not a real cohort; conclusions rest on RELATIVE comparisons.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Acted emotions  </a:t>
            </a:r>
            <a:r>
              <a:rPr sz="1800">
                <a:solidFill>
                  <a:srgbClr val="393E46"/>
                </a:solidFill>
                <a:latin typeface="Calibri"/>
              </a:rPr>
              <a:t>(RAVDESS/FER) → live webcam/mic is out-of-distribution.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Skewed CSV  </a:t>
            </a:r>
            <a:r>
              <a:rPr sz="1800">
                <a:solidFill>
                  <a:srgbClr val="393E46"/>
                </a:solidFill>
                <a:latin typeface="Calibri"/>
              </a:rPr>
              <a:t>— Severe ≈ 3% (19 test participants); we quote effective sample size.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Only 1 of 4 face-video columns recoverable  </a:t>
            </a:r>
            <a:r>
              <a:rPr sz="1800">
                <a:solidFill>
                  <a:srgbClr val="393E46"/>
                </a:solidFill>
                <a:latin typeface="Calibri"/>
              </a:rPr>
              <a:t>from static stills (no blink/head-motion).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Mapping conflict  </a:t>
            </a:r>
            <a:r>
              <a:rPr sz="1800">
                <a:solidFill>
                  <a:srgbClr val="393E46"/>
                </a:solidFill>
                <a:latin typeface="Calibri"/>
              </a:rPr>
              <a:t>in the committee labels; ECE 0.198 = mild overconfidence. Not clinically validated.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93E46"/>
                </a:solidFill>
                <a:latin typeface="Calibri"/>
              </a:rPr>
              <a:t>NEXT STEPS &amp;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22831"/>
                </a:solidFill>
                <a:latin typeface="Calibri"/>
              </a:rPr>
              <a:t>Where this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Real longitudinal cohort  </a:t>
            </a:r>
            <a:r>
              <a:rPr sz="1800">
                <a:solidFill>
                  <a:srgbClr val="393E46"/>
                </a:solidFill>
                <a:latin typeface="Calibri"/>
              </a:rPr>
              <a:t>with shared participants → removes the synthetic-pairing caveat.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Temporal modelling  </a:t>
            </a:r>
            <a:r>
              <a:rPr sz="1800">
                <a:solidFill>
                  <a:srgbClr val="393E46"/>
                </a:solidFill>
                <a:latin typeface="Calibri"/>
              </a:rPr>
              <a:t>→ recovers blink rate &amp; head motion; calibration/temperature scaling to cut ECE.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831"/>
                </a:solidFill>
                <a:latin typeface="Calibri"/>
              </a:rPr>
              <a:t>On-device, privacy-preserving inference.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22831"/>
                </a:solidFill>
                <a:latin typeface="Calibri"/>
              </a:rPr>
              <a:t>In one line:</a:t>
            </a:r>
          </a:p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393E46"/>
                </a:solidFill>
                <a:latin typeface="Calibri"/>
              </a:rPr>
              <a:t>Everyone stapled three encoders together — we aligned participants in measured-feature space and proved it helped (+10 pts), found the contradiction in the committee's own labels, treated the classes as the ordered scale they are, reported what the model doesn't know, and shipped something a clinician could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1300</Words>
  <Application>Microsoft Macintosh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Hemish Jain</cp:lastModifiedBy>
  <cp:revision>2</cp:revision>
  <dcterms:created xsi:type="dcterms:W3CDTF">2013-01-27T09:14:16Z</dcterms:created>
  <dcterms:modified xsi:type="dcterms:W3CDTF">2026-08-13T10:11:17Z</dcterms:modified>
  <cp:category/>
</cp:coreProperties>
</file>